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72" r:id="rId2"/>
    <p:sldId id="275" r:id="rId3"/>
    <p:sldId id="287" r:id="rId4"/>
    <p:sldId id="274" r:id="rId5"/>
    <p:sldId id="276" r:id="rId6"/>
    <p:sldId id="271" r:id="rId7"/>
    <p:sldId id="277" r:id="rId8"/>
    <p:sldId id="280" r:id="rId9"/>
    <p:sldId id="279" r:id="rId10"/>
    <p:sldId id="283" r:id="rId11"/>
    <p:sldId id="284" r:id="rId12"/>
    <p:sldId id="285" r:id="rId13"/>
    <p:sldId id="288" r:id="rId14"/>
    <p:sldId id="289" r:id="rId15"/>
    <p:sldId id="29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7" autoAdjust="0"/>
    <p:restoredTop sz="94660"/>
  </p:normalViewPr>
  <p:slideViewPr>
    <p:cSldViewPr>
      <p:cViewPr varScale="1">
        <p:scale>
          <a:sx n="105" d="100"/>
          <a:sy n="105" d="100"/>
        </p:scale>
        <p:origin x="169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e Wehr" userId="11075d359ef8b5bf" providerId="LiveId" clId="{A5FC304A-C691-47C4-88E1-C41CF85BBE17}"/>
    <pc:docChg chg="custSel addSld delSld modSld sldOrd">
      <pc:chgData name="Nate Wehr" userId="11075d359ef8b5bf" providerId="LiveId" clId="{A5FC304A-C691-47C4-88E1-C41CF85BBE17}" dt="2025-07-05T19:32:07.948" v="121" actId="27918"/>
      <pc:docMkLst>
        <pc:docMk/>
      </pc:docMkLst>
      <pc:sldChg chg="modSp mod">
        <pc:chgData name="Nate Wehr" userId="11075d359ef8b5bf" providerId="LiveId" clId="{A5FC304A-C691-47C4-88E1-C41CF85BBE17}" dt="2025-07-04T18:52:29.674" v="59" actId="20577"/>
        <pc:sldMkLst>
          <pc:docMk/>
          <pc:sldMk cId="711433789" sldId="272"/>
        </pc:sldMkLst>
        <pc:spChg chg="mod">
          <ac:chgData name="Nate Wehr" userId="11075d359ef8b5bf" providerId="LiveId" clId="{A5FC304A-C691-47C4-88E1-C41CF85BBE17}" dt="2025-07-04T18:52:29.674" v="59" actId="20577"/>
          <ac:spMkLst>
            <pc:docMk/>
            <pc:sldMk cId="711433789" sldId="272"/>
            <ac:spMk id="3" creationId="{00000000-0000-0000-0000-000000000000}"/>
          </ac:spMkLst>
        </pc:spChg>
      </pc:sldChg>
      <pc:sldChg chg="del">
        <pc:chgData name="Nate Wehr" userId="11075d359ef8b5bf" providerId="LiveId" clId="{A5FC304A-C691-47C4-88E1-C41CF85BBE17}" dt="2025-07-04T19:36:53.456" v="62" actId="2696"/>
        <pc:sldMkLst>
          <pc:docMk/>
          <pc:sldMk cId="733165616" sldId="273"/>
        </pc:sldMkLst>
      </pc:sldChg>
      <pc:sldChg chg="modSp modAnim">
        <pc:chgData name="Nate Wehr" userId="11075d359ef8b5bf" providerId="LiveId" clId="{A5FC304A-C691-47C4-88E1-C41CF85BBE17}" dt="2025-07-04T20:38:07.149" v="66" actId="20577"/>
        <pc:sldMkLst>
          <pc:docMk/>
          <pc:sldMk cId="1494023290" sldId="275"/>
        </pc:sldMkLst>
        <pc:spChg chg="mod">
          <ac:chgData name="Nate Wehr" userId="11075d359ef8b5bf" providerId="LiveId" clId="{A5FC304A-C691-47C4-88E1-C41CF85BBE17}" dt="2025-07-04T20:38:07.149" v="66" actId="20577"/>
          <ac:spMkLst>
            <pc:docMk/>
            <pc:sldMk cId="1494023290" sldId="275"/>
            <ac:spMk id="3" creationId="{00000000-0000-0000-0000-000000000000}"/>
          </ac:spMkLst>
        </pc:spChg>
      </pc:sldChg>
      <pc:sldChg chg="modSp mod">
        <pc:chgData name="Nate Wehr" userId="11075d359ef8b5bf" providerId="LiveId" clId="{A5FC304A-C691-47C4-88E1-C41CF85BBE17}" dt="2025-07-04T19:36:07.093" v="61" actId="20577"/>
        <pc:sldMkLst>
          <pc:docMk/>
          <pc:sldMk cId="492565739" sldId="280"/>
        </pc:sldMkLst>
        <pc:spChg chg="mod">
          <ac:chgData name="Nate Wehr" userId="11075d359ef8b5bf" providerId="LiveId" clId="{A5FC304A-C691-47C4-88E1-C41CF85BBE17}" dt="2025-07-04T19:36:07.093" v="61" actId="20577"/>
          <ac:spMkLst>
            <pc:docMk/>
            <pc:sldMk cId="492565739" sldId="280"/>
            <ac:spMk id="3" creationId="{00000000-0000-0000-0000-000000000000}"/>
          </ac:spMkLst>
        </pc:spChg>
      </pc:sldChg>
      <pc:sldChg chg="del">
        <pc:chgData name="Nate Wehr" userId="11075d359ef8b5bf" providerId="LiveId" clId="{A5FC304A-C691-47C4-88E1-C41CF85BBE17}" dt="2025-07-04T19:37:03.053" v="63" actId="2696"/>
        <pc:sldMkLst>
          <pc:docMk/>
          <pc:sldMk cId="1956864733" sldId="286"/>
        </pc:sldMkLst>
      </pc:sldChg>
      <pc:sldChg chg="modSp mod">
        <pc:chgData name="Nate Wehr" userId="11075d359ef8b5bf" providerId="LiveId" clId="{A5FC304A-C691-47C4-88E1-C41CF85BBE17}" dt="2025-07-04T20:39:10.899" v="77" actId="20577"/>
        <pc:sldMkLst>
          <pc:docMk/>
          <pc:sldMk cId="1181843373" sldId="289"/>
        </pc:sldMkLst>
        <pc:graphicFrameChg chg="mod">
          <ac:chgData name="Nate Wehr" userId="11075d359ef8b5bf" providerId="LiveId" clId="{A5FC304A-C691-47C4-88E1-C41CF85BBE17}" dt="2025-07-04T20:39:10.899" v="77" actId="20577"/>
          <ac:graphicFrameMkLst>
            <pc:docMk/>
            <pc:sldMk cId="1181843373" sldId="289"/>
            <ac:graphicFrameMk id="7" creationId="{00000000-0000-0000-0000-000000000000}"/>
          </ac:graphicFrameMkLst>
        </pc:graphicFrameChg>
      </pc:sldChg>
      <pc:sldChg chg="addSp delSp modSp add mod ord">
        <pc:chgData name="Nate Wehr" userId="11075d359ef8b5bf" providerId="LiveId" clId="{A5FC304A-C691-47C4-88E1-C41CF85BBE17}" dt="2025-07-05T19:32:07.948" v="121" actId="27918"/>
        <pc:sldMkLst>
          <pc:docMk/>
          <pc:sldMk cId="2193713715" sldId="290"/>
        </pc:sldMkLst>
        <pc:spChg chg="mod">
          <ac:chgData name="Nate Wehr" userId="11075d359ef8b5bf" providerId="LiveId" clId="{A5FC304A-C691-47C4-88E1-C41CF85BBE17}" dt="2025-07-05T13:38:02.722" v="115" actId="122"/>
          <ac:spMkLst>
            <pc:docMk/>
            <pc:sldMk cId="2193713715" sldId="290"/>
            <ac:spMk id="2" creationId="{5C94471A-8C4E-A369-A35A-49AC7EF86102}"/>
          </ac:spMkLst>
        </pc:spChg>
        <pc:graphicFrameChg chg="add mod">
          <ac:chgData name="Nate Wehr" userId="11075d359ef8b5bf" providerId="LiveId" clId="{A5FC304A-C691-47C4-88E1-C41CF85BBE17}" dt="2025-07-05T19:29:15.519" v="120" actId="1076"/>
          <ac:graphicFrameMkLst>
            <pc:docMk/>
            <pc:sldMk cId="2193713715" sldId="290"/>
            <ac:graphicFrameMk id="3" creationId="{24DFC1E5-1EE2-4868-D757-609C259EC82A}"/>
          </ac:graphicFrameMkLst>
        </pc:graphicFrameChg>
        <pc:graphicFrameChg chg="del">
          <ac:chgData name="Nate Wehr" userId="11075d359ef8b5bf" providerId="LiveId" clId="{A5FC304A-C691-47C4-88E1-C41CF85BBE17}" dt="2025-07-05T19:29:08" v="116" actId="478"/>
          <ac:graphicFrameMkLst>
            <pc:docMk/>
            <pc:sldMk cId="2193713715" sldId="290"/>
            <ac:graphicFrameMk id="5" creationId="{DFC6EB57-3EEE-F237-E5F0-2D050DFCD731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/>
              <a:t>Fox</a:t>
            </a:r>
            <a:r>
              <a:rPr lang="en-US" sz="2000" baseline="0" dirty="0"/>
              <a:t> Squirrel Behavior Allotments</a:t>
            </a:r>
            <a:endParaRPr lang="en-US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Sheet1!$O$1</c:f>
              <c:strCache>
                <c:ptCount val="1"/>
                <c:pt idx="0">
                  <c:v>Sum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520-426E-8120-DB6486782B4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520-426E-8120-DB6486782B4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520-426E-8120-DB6486782B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520-426E-8120-DB6486782B4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520-426E-8120-DB6486782B42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520-426E-8120-DB6486782B42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520-426E-8120-DB6486782B42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6520-426E-8120-DB6486782B42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6520-426E-8120-DB6486782B4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Sheet1!$N$2:$N$10</c:f>
              <c:strCache>
                <c:ptCount val="9"/>
                <c:pt idx="0">
                  <c:v>Alarm Call</c:v>
                </c:pt>
                <c:pt idx="1">
                  <c:v>Consuming</c:v>
                </c:pt>
                <c:pt idx="2">
                  <c:v>Defending</c:v>
                </c:pt>
                <c:pt idx="3">
                  <c:v>Grooming</c:v>
                </c:pt>
                <c:pt idx="4">
                  <c:v>Movement</c:v>
                </c:pt>
                <c:pt idx="5">
                  <c:v>Other</c:v>
                </c:pt>
                <c:pt idx="6">
                  <c:v>Resting</c:v>
                </c:pt>
                <c:pt idx="7">
                  <c:v>Scanning</c:v>
                </c:pt>
                <c:pt idx="8">
                  <c:v>Searching</c:v>
                </c:pt>
              </c:strCache>
            </c:strRef>
          </c:cat>
          <c:val>
            <c:numRef>
              <c:f>Sheet1!$O$2:$O$10</c:f>
              <c:numCache>
                <c:formatCode>General</c:formatCode>
                <c:ptCount val="9"/>
                <c:pt idx="0">
                  <c:v>10</c:v>
                </c:pt>
                <c:pt idx="1">
                  <c:v>254</c:v>
                </c:pt>
                <c:pt idx="2">
                  <c:v>29</c:v>
                </c:pt>
                <c:pt idx="3">
                  <c:v>26</c:v>
                </c:pt>
                <c:pt idx="4">
                  <c:v>182</c:v>
                </c:pt>
                <c:pt idx="5">
                  <c:v>10</c:v>
                </c:pt>
                <c:pt idx="6">
                  <c:v>125</c:v>
                </c:pt>
                <c:pt idx="7">
                  <c:v>137</c:v>
                </c:pt>
                <c:pt idx="8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520-426E-8120-DB6486782B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25400"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Squirrel</a:t>
            </a:r>
            <a:r>
              <a:rPr lang="en-US" sz="2400" baseline="0" dirty="0"/>
              <a:t> Time Allotments</a:t>
            </a:r>
            <a:endParaRPr lang="en-US" sz="2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Sheet1!$Q$1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Sheet1!$P$2:$P$10</c:f>
              <c:strCache>
                <c:ptCount val="9"/>
                <c:pt idx="0">
                  <c:v>Alarm Call</c:v>
                </c:pt>
                <c:pt idx="1">
                  <c:v>Consuming</c:v>
                </c:pt>
                <c:pt idx="2">
                  <c:v>Defending</c:v>
                </c:pt>
                <c:pt idx="3">
                  <c:v>Grooming</c:v>
                </c:pt>
                <c:pt idx="4">
                  <c:v>Movement</c:v>
                </c:pt>
                <c:pt idx="5">
                  <c:v>Other</c:v>
                </c:pt>
                <c:pt idx="6">
                  <c:v>Resting</c:v>
                </c:pt>
                <c:pt idx="7">
                  <c:v>Scanning</c:v>
                </c:pt>
                <c:pt idx="8">
                  <c:v>Searching</c:v>
                </c:pt>
              </c:strCache>
            </c:strRef>
          </c:cat>
          <c:val>
            <c:numRef>
              <c:f>Sheet1!$Q$2:$Q$10</c:f>
              <c:numCache>
                <c:formatCode>General</c:formatCode>
                <c:ptCount val="9"/>
                <c:pt idx="0">
                  <c:v>0.25</c:v>
                </c:pt>
                <c:pt idx="1">
                  <c:v>6.35</c:v>
                </c:pt>
                <c:pt idx="2">
                  <c:v>0.72499999999999998</c:v>
                </c:pt>
                <c:pt idx="3">
                  <c:v>0.65</c:v>
                </c:pt>
                <c:pt idx="4">
                  <c:v>4.55</c:v>
                </c:pt>
                <c:pt idx="5">
                  <c:v>0.25</c:v>
                </c:pt>
                <c:pt idx="6">
                  <c:v>3.125</c:v>
                </c:pt>
                <c:pt idx="7">
                  <c:v>3.4249999999999998</c:v>
                </c:pt>
                <c:pt idx="8">
                  <c:v>4.125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BC-4E02-AE5E-28B88B51AD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431832"/>
        <c:axId val="155432616"/>
      </c:barChart>
      <c:catAx>
        <c:axId val="155431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432616"/>
        <c:crosses val="autoZero"/>
        <c:auto val="1"/>
        <c:lblAlgn val="ctr"/>
        <c:lblOffset val="100"/>
        <c:noMultiLvlLbl val="0"/>
      </c:catAx>
      <c:valAx>
        <c:axId val="15543261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Minutes / 25min interval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431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658-4F85-96D3-C211481BB35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658-4F85-96D3-C211481BB35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658-4F85-96D3-C211481BB35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658-4F85-96D3-C211481BB35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658-4F85-96D3-C211481BB35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658-4F85-96D3-C211481BB35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658-4F85-96D3-C211481BB35E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6658-4F85-96D3-C211481BB35E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6658-4F85-96D3-C211481BB35E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6658-4F85-96D3-C211481BB35E}"/>
              </c:ext>
            </c:extLst>
          </c:dPt>
          <c:cat>
            <c:strRef>
              <c:f>Sheet1!$A$2:$A$11</c:f>
              <c:strCache>
                <c:ptCount val="10"/>
                <c:pt idx="0">
                  <c:v>Singing</c:v>
                </c:pt>
                <c:pt idx="1">
                  <c:v>Hopping</c:v>
                </c:pt>
                <c:pt idx="2">
                  <c:v>Flying</c:v>
                </c:pt>
                <c:pt idx="3">
                  <c:v>Foraging</c:v>
                </c:pt>
                <c:pt idx="4">
                  <c:v>Preening</c:v>
                </c:pt>
                <c:pt idx="5">
                  <c:v>Resting</c:v>
                </c:pt>
                <c:pt idx="6">
                  <c:v>Interacting</c:v>
                </c:pt>
                <c:pt idx="7">
                  <c:v>Calling</c:v>
                </c:pt>
                <c:pt idx="8">
                  <c:v>Other</c:v>
                </c:pt>
                <c:pt idx="9">
                  <c:v>Unknown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22</c:v>
                </c:pt>
                <c:pt idx="2">
                  <c:v>4</c:v>
                </c:pt>
                <c:pt idx="3">
                  <c:v>27</c:v>
                </c:pt>
                <c:pt idx="4">
                  <c:v>0</c:v>
                </c:pt>
                <c:pt idx="5">
                  <c:v>40</c:v>
                </c:pt>
                <c:pt idx="6">
                  <c:v>2</c:v>
                </c:pt>
                <c:pt idx="7">
                  <c:v>1</c:v>
                </c:pt>
                <c:pt idx="8">
                  <c:v>0</c:v>
                </c:pt>
                <c:pt idx="9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6658-4F85-96D3-C211481BB3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3F19-050E-41B2-9348-AAB556F1C3B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CADC28-D0A1-46A0-983F-D8C2E6FF5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9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ADC28-D0A1-46A0-983F-D8C2E6FF5B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41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1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615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97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69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64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32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77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5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7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53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E297EDF-16D3-4033-BFEE-3FEF8C80B045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DC58AF1-98E0-45BE-86F4-703237E2272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55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19889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Ethology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Cranberry Lake Biological Station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Wildlife Field Techniques</a:t>
            </a:r>
          </a:p>
        </p:txBody>
      </p:sp>
    </p:spTree>
    <p:extLst>
      <p:ext uri="{BB962C8B-B14F-4D97-AF65-F5344CB8AC3E}">
        <p14:creationId xmlns:p14="http://schemas.microsoft.com/office/powerpoint/2010/main" val="711433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mom teaching baby anim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021" y="1858434"/>
            <a:ext cx="3257550" cy="487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What is Ethology?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5" y="1845734"/>
            <a:ext cx="5258706" cy="4375452"/>
          </a:xfrm>
        </p:spPr>
        <p:txBody>
          <a:bodyPr>
            <a:normAutofit/>
          </a:bodyPr>
          <a:lstStyle/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Ethology – the study of the proximate mechanisms and adaptive value of animal behavior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Why is it important to study animal behavior?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1026" name="Picture 2" descr="Image result for mom teaching baby anim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021" y="86396"/>
            <a:ext cx="3257550" cy="211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02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Ethology Topics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1845734"/>
            <a:ext cx="8164285" cy="4375452"/>
          </a:xfrm>
        </p:spPr>
        <p:txBody>
          <a:bodyPr>
            <a:normAutofit/>
          </a:bodyPr>
          <a:lstStyle/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Ethology is a diverse field that includes many topics of study such as:</a:t>
            </a:r>
          </a:p>
          <a:p>
            <a:pPr marL="629158" lvl="1" indent="-223838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tx1"/>
                </a:solidFill>
              </a:rPr>
              <a:t>Activity Patterns – actions that occur over a defined period of time (what we’re doing today)</a:t>
            </a:r>
          </a:p>
          <a:p>
            <a:pPr marL="629158" lvl="1" indent="-223838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tx1"/>
                </a:solidFill>
              </a:rPr>
              <a:t>Kinematics – the physiological mechanics of motion</a:t>
            </a:r>
          </a:p>
          <a:p>
            <a:pPr marL="629158" lvl="1" indent="-223838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tx1"/>
                </a:solidFill>
              </a:rPr>
              <a:t>Acoustics – specifically examining communication or sensory reception of sound (often uses waveforms and sonograms)</a:t>
            </a:r>
          </a:p>
          <a:p>
            <a:pPr marL="629158" lvl="1" indent="-223838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chemeClr val="tx1"/>
                </a:solidFill>
              </a:rPr>
              <a:t>Learning – examining an animal’s adaptations to environmental cues over a defined period of time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80524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Types of Behaviors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1845734"/>
            <a:ext cx="8164285" cy="4375452"/>
          </a:xfrm>
        </p:spPr>
        <p:txBody>
          <a:bodyPr>
            <a:normAutofit/>
          </a:bodyPr>
          <a:lstStyle/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State – a behavior with an extended duration (e.g. sleeping, moving)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Event – a behavior that can be quantified by number of occurrences (e.g. a single call, or single step)</a:t>
            </a:r>
            <a:endParaRPr lang="en-US" sz="2800" dirty="0"/>
          </a:p>
          <a:p>
            <a:pPr marL="336550" indent="-223838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1034" name="Picture 10" descr="Image result for lion roa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12454" b="14213"/>
          <a:stretch/>
        </p:blipFill>
        <p:spPr bwMode="auto">
          <a:xfrm>
            <a:off x="446314" y="4033460"/>
            <a:ext cx="35814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lion sleep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067" y="4033460"/>
            <a:ext cx="3985532" cy="265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17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Types of Sampling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1845734"/>
            <a:ext cx="8164285" cy="4375452"/>
          </a:xfrm>
        </p:spPr>
        <p:txBody>
          <a:bodyPr>
            <a:normAutofit/>
          </a:bodyPr>
          <a:lstStyle/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Instantaneous – sampling at predetermined time intervals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Continuous – sampling throughout the entire time period</a:t>
            </a:r>
            <a:endParaRPr lang="en-US" sz="2800" dirty="0"/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Focal – sampling one individual 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Scan – sampling multiple individuals</a:t>
            </a:r>
          </a:p>
        </p:txBody>
      </p:sp>
    </p:spTree>
    <p:extLst>
      <p:ext uri="{BB962C8B-B14F-4D97-AF65-F5344CB8AC3E}">
        <p14:creationId xmlns:p14="http://schemas.microsoft.com/office/powerpoint/2010/main" val="1463133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 flipH="1">
            <a:off x="7620000" y="4267200"/>
            <a:ext cx="459" cy="7353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40" idx="0"/>
            <a:endCxn id="25" idx="2"/>
          </p:cNvCxnSpPr>
          <p:nvPr/>
        </p:nvCxnSpPr>
        <p:spPr>
          <a:xfrm flipH="1" flipV="1">
            <a:off x="4594859" y="898071"/>
            <a:ext cx="2081362" cy="3211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5300" y="1371600"/>
            <a:ext cx="82677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>
            <a:stCxn id="4" idx="2"/>
            <a:endCxn id="11" idx="0"/>
          </p:cNvCxnSpPr>
          <p:nvPr/>
        </p:nvCxnSpPr>
        <p:spPr>
          <a:xfrm flipH="1">
            <a:off x="1524000" y="3165667"/>
            <a:ext cx="952500" cy="3395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39" idx="0"/>
          </p:cNvCxnSpPr>
          <p:nvPr/>
        </p:nvCxnSpPr>
        <p:spPr>
          <a:xfrm flipH="1">
            <a:off x="2463800" y="909944"/>
            <a:ext cx="2105982" cy="3276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85800" y="3505200"/>
            <a:ext cx="16764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 Individual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0800" y="3505200"/>
            <a:ext cx="16764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group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1800" y="3505200"/>
            <a:ext cx="16764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group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1524000" y="4267200"/>
            <a:ext cx="459" cy="7353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5715000" y="4260773"/>
            <a:ext cx="459" cy="7353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3" idx="0"/>
            <a:endCxn id="5" idx="2"/>
          </p:cNvCxnSpPr>
          <p:nvPr/>
        </p:nvCxnSpPr>
        <p:spPr>
          <a:xfrm flipV="1">
            <a:off x="5715000" y="3200401"/>
            <a:ext cx="971150" cy="304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85800" y="4953000"/>
            <a:ext cx="16764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Focal Sampling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0" y="4953000"/>
            <a:ext cx="16764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Focal Sampling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76400" y="1535668"/>
            <a:ext cx="79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7400" y="1524000"/>
            <a:ext cx="1637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Good for States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1800" y="4953000"/>
            <a:ext cx="16764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Scan Sampling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" y="1237604"/>
            <a:ext cx="34290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61721" y="1219200"/>
            <a:ext cx="3429000" cy="7804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States</a:t>
            </a:r>
          </a:p>
        </p:txBody>
      </p:sp>
      <p:cxnSp>
        <p:nvCxnSpPr>
          <p:cNvPr id="42" name="Straight Connector 41"/>
          <p:cNvCxnSpPr>
            <a:stCxn id="39" idx="2"/>
            <a:endCxn id="4" idx="0"/>
          </p:cNvCxnSpPr>
          <p:nvPr/>
        </p:nvCxnSpPr>
        <p:spPr>
          <a:xfrm>
            <a:off x="2463800" y="1999604"/>
            <a:ext cx="12700" cy="4040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676221" y="1999604"/>
            <a:ext cx="12700" cy="4040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" idx="2"/>
            <a:endCxn id="12" idx="0"/>
          </p:cNvCxnSpPr>
          <p:nvPr/>
        </p:nvCxnSpPr>
        <p:spPr>
          <a:xfrm>
            <a:off x="2476500" y="3165667"/>
            <a:ext cx="952500" cy="3395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62000" y="2403667"/>
            <a:ext cx="34290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Continuous</a:t>
            </a:r>
            <a:r>
              <a:rPr lang="en-US" dirty="0">
                <a:solidFill>
                  <a:schemeClr val="tx1"/>
                </a:solidFill>
              </a:rPr>
              <a:t> sampling of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822959" y="128762"/>
            <a:ext cx="7543800" cy="7693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solidFill>
                  <a:schemeClr val="tx1"/>
                </a:solidFill>
              </a:rPr>
              <a:t>What Are You Sampling?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9" name="Straight Connector 48"/>
          <p:cNvCxnSpPr>
            <a:stCxn id="5" idx="2"/>
            <a:endCxn id="14" idx="0"/>
          </p:cNvCxnSpPr>
          <p:nvPr/>
        </p:nvCxnSpPr>
        <p:spPr>
          <a:xfrm>
            <a:off x="6686150" y="3200401"/>
            <a:ext cx="933850" cy="304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71650" y="2399009"/>
            <a:ext cx="3429000" cy="8013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Instantaneous</a:t>
            </a:r>
            <a:r>
              <a:rPr lang="en-US" dirty="0">
                <a:solidFill>
                  <a:schemeClr val="tx1"/>
                </a:solidFill>
              </a:rPr>
              <a:t> sampling of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800" y="3505200"/>
            <a:ext cx="16764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 individual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Types of Sampling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1845734"/>
            <a:ext cx="8164285" cy="4375452"/>
          </a:xfrm>
        </p:spPr>
        <p:txBody>
          <a:bodyPr>
            <a:normAutofit/>
          </a:bodyPr>
          <a:lstStyle/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Continuous Focal Sampling – constantly recording all behaviors of one individual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Instantaneous Focal Sampling – recording the state of a single individual at set intervals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Instantaneous Scan Sampling – recording the state of multiple individuals at set intervals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84393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Types of Analyses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1845734"/>
            <a:ext cx="8164285" cy="4375452"/>
          </a:xfrm>
        </p:spPr>
        <p:txBody>
          <a:bodyPr>
            <a:normAutofit/>
          </a:bodyPr>
          <a:lstStyle/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</a:rPr>
              <a:t>Sequence Analysis – sampling recorded behaviors to determine if a pattern exists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</a:rPr>
              <a:t>One-Zero Analysis – sampling for the presence of a specific behavior across each of the predetermined time periods</a:t>
            </a:r>
          </a:p>
        </p:txBody>
      </p:sp>
    </p:spTree>
    <p:extLst>
      <p:ext uri="{BB962C8B-B14F-4D97-AF65-F5344CB8AC3E}">
        <p14:creationId xmlns:p14="http://schemas.microsoft.com/office/powerpoint/2010/main" val="492565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Caveats to Ethological Studies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1845734"/>
            <a:ext cx="8164285" cy="4375452"/>
          </a:xfrm>
        </p:spPr>
        <p:txBody>
          <a:bodyPr>
            <a:normAutofit/>
          </a:bodyPr>
          <a:lstStyle/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You must predetermine the length of time over which you’re going to study the behavior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You must predetermine the categories of behaviors you’re going to use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You must avoid anthropomorphisms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3074" name="Picture 2" descr="Image result for lion ki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6"/>
          <a:stretch/>
        </p:blipFill>
        <p:spPr bwMode="auto">
          <a:xfrm>
            <a:off x="1670956" y="4419600"/>
            <a:ext cx="5715000" cy="241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90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Displaying Behavioral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1845734"/>
            <a:ext cx="8164285" cy="4375452"/>
          </a:xfrm>
        </p:spPr>
        <p:txBody>
          <a:bodyPr>
            <a:normAutofit/>
          </a:bodyPr>
          <a:lstStyle/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 err="1">
                <a:solidFill>
                  <a:schemeClr val="tx1"/>
                </a:solidFill>
              </a:rPr>
              <a:t>Ethogram</a:t>
            </a:r>
            <a:r>
              <a:rPr lang="en-US" sz="2800" dirty="0">
                <a:solidFill>
                  <a:schemeClr val="tx1"/>
                </a:solidFill>
              </a:rPr>
              <a:t> – a table of predetermined behaviors listed in alphabetical order with a detailed description of each behavior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Flow Diagram – a list of these behaviors in sequence as determined by your sequential analysis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Time Budget – a graph (usually a pie chart) depicting the breakdown of behaviors </a:t>
            </a:r>
          </a:p>
          <a:p>
            <a:pPr marL="336550" indent="-223838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17845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 err="1">
                <a:solidFill>
                  <a:schemeClr val="tx1"/>
                </a:solidFill>
              </a:rPr>
              <a:t>Ethogram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20" name="Picture 4" descr="Image result for mammal ethogra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4" r="4425" b="5812"/>
          <a:stretch/>
        </p:blipFill>
        <p:spPr bwMode="auto">
          <a:xfrm>
            <a:off x="0" y="1447800"/>
            <a:ext cx="9144000" cy="364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954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95300" y="1371600"/>
            <a:ext cx="82677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Flow Chart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http://d1vn86fw4xmcz1.cloudfront.net/content/royptb/361/1465/5/F6.large.jpg"/>
          <p:cNvPicPr>
            <a:picLocks noChangeAspect="1" noChangeArrowheads="1"/>
          </p:cNvPicPr>
          <p:nvPr/>
        </p:nvPicPr>
        <p:blipFill rotWithShape="1">
          <a:blip r:embed="rId2" cstate="print"/>
          <a:srcRect t="3688" r="60625" b="45129"/>
          <a:stretch/>
        </p:blipFill>
        <p:spPr bwMode="auto">
          <a:xfrm>
            <a:off x="3581400" y="533400"/>
            <a:ext cx="5496339" cy="5615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60678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95300" y="1371600"/>
            <a:ext cx="82677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Time Budget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6293481"/>
              </p:ext>
            </p:extLst>
          </p:nvPr>
        </p:nvGraphicFramePr>
        <p:xfrm>
          <a:off x="152400" y="990600"/>
          <a:ext cx="876300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74698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95300" y="1371600"/>
            <a:ext cx="82677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Allotment Averages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281534"/>
              </p:ext>
            </p:extLst>
          </p:nvPr>
        </p:nvGraphicFramePr>
        <p:xfrm>
          <a:off x="76200" y="1066800"/>
          <a:ext cx="8686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1843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F722-F60D-1ECD-2F13-25C499AF8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A192F3-4F9B-1879-D335-108F8838298D}"/>
              </a:ext>
            </a:extLst>
          </p:cNvPr>
          <p:cNvSpPr/>
          <p:nvPr/>
        </p:nvSpPr>
        <p:spPr>
          <a:xfrm>
            <a:off x="495300" y="1371600"/>
            <a:ext cx="82677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4471A-8C4E-A369-A35A-49AC7EF86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59" y="128762"/>
            <a:ext cx="7543800" cy="769309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American Robins at CLBS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4DFC1E5-1EE2-4868-D757-609C259EC8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8200224"/>
              </p:ext>
            </p:extLst>
          </p:nvPr>
        </p:nvGraphicFramePr>
        <p:xfrm>
          <a:off x="609600" y="1066800"/>
          <a:ext cx="7491412" cy="4998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37137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3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FFC72C"/>
      </a:accent1>
      <a:accent2>
        <a:srgbClr val="046A38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4600</TotalTime>
  <Words>396</Words>
  <Application>Microsoft Office PowerPoint</Application>
  <PresentationFormat>On-screen Show (4:3)</PresentationFormat>
  <Paragraphs>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Calibri</vt:lpstr>
      <vt:lpstr>Calibri Light</vt:lpstr>
      <vt:lpstr>Wingdings</vt:lpstr>
      <vt:lpstr>Retrospect</vt:lpstr>
      <vt:lpstr>Ethology</vt:lpstr>
      <vt:lpstr>What is Ethology?</vt:lpstr>
      <vt:lpstr>Ethology Topics</vt:lpstr>
      <vt:lpstr>Types of Behaviors</vt:lpstr>
      <vt:lpstr>Types of Sampling</vt:lpstr>
      <vt:lpstr>PowerPoint Presentation</vt:lpstr>
      <vt:lpstr>Types of Sampling</vt:lpstr>
      <vt:lpstr>Types of Analyses</vt:lpstr>
      <vt:lpstr>Caveats to Ethological Studies</vt:lpstr>
      <vt:lpstr>Displaying Behavioral Data</vt:lpstr>
      <vt:lpstr>Ethogram</vt:lpstr>
      <vt:lpstr>Flow Chart</vt:lpstr>
      <vt:lpstr>Time Budget</vt:lpstr>
      <vt:lpstr>Allotment Averages</vt:lpstr>
      <vt:lpstr>American Robins at CLBS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Zoology 306 Lab!</dc:title>
  <dc:creator>Bethany Coffey</dc:creator>
  <cp:lastModifiedBy>Nate Wehr</cp:lastModifiedBy>
  <cp:revision>61</cp:revision>
  <dcterms:created xsi:type="dcterms:W3CDTF">2016-01-12T22:00:39Z</dcterms:created>
  <dcterms:modified xsi:type="dcterms:W3CDTF">2025-07-05T19:32:19Z</dcterms:modified>
</cp:coreProperties>
</file>